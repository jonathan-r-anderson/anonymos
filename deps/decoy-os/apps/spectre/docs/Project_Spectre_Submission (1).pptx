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5"/>
    <p:sldMasterId id="214748367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IBM Plex Sans"/>
      <p:regular r:id="rId18"/>
      <p:bold r:id="rId19"/>
      <p:italic r:id="rId20"/>
      <p:boldItalic r:id="rId21"/>
    </p:embeddedFont>
    <p:embeddedFont>
      <p:font typeface="Tahoma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E437EA-23C0-4E91-B591-5456C4132C26}">
  <a:tblStyle styleId="{E2E437EA-23C0-4E91-B591-5456C4132C2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-italic.fntdata"/><Relationship Id="rId11" Type="http://schemas.openxmlformats.org/officeDocument/2006/relationships/slide" Target="slides/slide4.xml"/><Relationship Id="rId22" Type="http://schemas.openxmlformats.org/officeDocument/2006/relationships/font" Target="fonts/Tahoma-regular.fntdata"/><Relationship Id="rId10" Type="http://schemas.openxmlformats.org/officeDocument/2006/relationships/slide" Target="slides/slide3.xml"/><Relationship Id="rId21" Type="http://schemas.openxmlformats.org/officeDocument/2006/relationships/font" Target="fonts/IBMPlexSans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23" Type="http://schemas.openxmlformats.org/officeDocument/2006/relationships/font" Target="fonts/Tahom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font" Target="fonts/IBMPlexSans-bold.fntdata"/><Relationship Id="rId6" Type="http://schemas.openxmlformats.org/officeDocument/2006/relationships/slideMaster" Target="slideMasters/slideMaster2.xml"/><Relationship Id="rId18" Type="http://schemas.openxmlformats.org/officeDocument/2006/relationships/font" Target="fonts/IBMPlexSans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3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22719" y="114965"/>
            <a:ext cx="5611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880861" y="1279047"/>
            <a:ext cx="3799500" cy="11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08960" y="4783454"/>
            <a:ext cx="29259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83454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95863" y="4953905"/>
            <a:ext cx="40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89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14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22719" y="114965"/>
            <a:ext cx="5611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b="1" i="0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4880861" y="1279047"/>
            <a:ext cx="3799500" cy="11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08960" y="4783454"/>
            <a:ext cx="29259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83454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595863" y="4953905"/>
            <a:ext cx="40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89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14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ctrTitle"/>
          </p:nvPr>
        </p:nvSpPr>
        <p:spPr>
          <a:xfrm>
            <a:off x="311708" y="744575"/>
            <a:ext cx="8520600" cy="205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  <a:defRPr b="0" i="0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  <a:defRPr b="0" i="0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  <a:defRPr b="0" i="0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  <a:defRPr b="0" i="0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  <a:defRPr b="0" i="0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  <a:defRPr b="0" i="0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  <a:defRPr b="0" i="0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  <a:defRPr b="0" i="0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  <a:defRPr b="0" i="0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311700" y="1111201"/>
            <a:ext cx="8520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83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83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1111201"/>
            <a:ext cx="8520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11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11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11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11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11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11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11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11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/>
          <p:nvPr>
            <p:ph type="title"/>
          </p:nvPr>
        </p:nvSpPr>
        <p:spPr>
          <a:xfrm>
            <a:off x="311700" y="1111201"/>
            <a:ext cx="8520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11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11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11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11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type="title"/>
          </p:nvPr>
        </p:nvSpPr>
        <p:spPr>
          <a:xfrm>
            <a:off x="490250" y="450150"/>
            <a:ext cx="6367800" cy="40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2" name="Google Shape;9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4572000" y="-125"/>
            <a:ext cx="45723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3"/>
          <p:cNvSpPr txBox="1"/>
          <p:nvPr>
            <p:ph type="title"/>
          </p:nvPr>
        </p:nvSpPr>
        <p:spPr>
          <a:xfrm>
            <a:off x="265500" y="1233175"/>
            <a:ext cx="40449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/>
        </p:txBody>
      </p:sp>
      <p:sp>
        <p:nvSpPr>
          <p:cNvPr id="96" name="Google Shape;96;p23"/>
          <p:cNvSpPr txBox="1"/>
          <p:nvPr>
            <p:ph idx="1" type="subTitle"/>
          </p:nvPr>
        </p:nvSpPr>
        <p:spPr>
          <a:xfrm>
            <a:off x="265500" y="2803075"/>
            <a:ext cx="40449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23"/>
          <p:cNvSpPr txBox="1"/>
          <p:nvPr>
            <p:ph idx="2" type="body"/>
          </p:nvPr>
        </p:nvSpPr>
        <p:spPr>
          <a:xfrm>
            <a:off x="4939500" y="724075"/>
            <a:ext cx="3837000" cy="3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83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83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>
            <p:ph idx="1" type="body"/>
          </p:nvPr>
        </p:nvSpPr>
        <p:spPr>
          <a:xfrm>
            <a:off x="311700" y="4230575"/>
            <a:ext cx="59991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  <p:sp>
        <p:nvSpPr>
          <p:cNvPr id="101" name="Google Shape;10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9pPr>
          </a:lstStyle>
          <a:p>
            <a:r>
              <a:t>xx%</a:t>
            </a:r>
          </a:p>
        </p:txBody>
      </p:sp>
      <p:sp>
        <p:nvSpPr>
          <p:cNvPr id="104" name="Google Shape;104;p25"/>
          <p:cNvSpPr txBox="1"/>
          <p:nvPr>
            <p:ph idx="1" type="body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indent="-3683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83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83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83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83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83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83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/>
          <p:nvPr>
            <p:ph idx="11" type="ftr"/>
          </p:nvPr>
        </p:nvSpPr>
        <p:spPr>
          <a:xfrm>
            <a:off x="3108960" y="4783454"/>
            <a:ext cx="29259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7"/>
          <p:cNvSpPr txBox="1"/>
          <p:nvPr>
            <p:ph idx="10" type="dt"/>
          </p:nvPr>
        </p:nvSpPr>
        <p:spPr>
          <a:xfrm>
            <a:off x="457200" y="4783454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27"/>
          <p:cNvSpPr txBox="1"/>
          <p:nvPr>
            <p:ph idx="12" type="sldNum"/>
          </p:nvPr>
        </p:nvSpPr>
        <p:spPr>
          <a:xfrm>
            <a:off x="8595863" y="4953905"/>
            <a:ext cx="40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89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14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8"/>
          <p:cNvSpPr txBox="1"/>
          <p:nvPr>
            <p:ph type="title"/>
          </p:nvPr>
        </p:nvSpPr>
        <p:spPr>
          <a:xfrm>
            <a:off x="122719" y="114965"/>
            <a:ext cx="5611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b="1" i="0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14" name="Google Shape;114;p28"/>
          <p:cNvSpPr txBox="1"/>
          <p:nvPr>
            <p:ph idx="11" type="ftr"/>
          </p:nvPr>
        </p:nvSpPr>
        <p:spPr>
          <a:xfrm>
            <a:off x="3108960" y="4783454"/>
            <a:ext cx="29259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28"/>
          <p:cNvSpPr txBox="1"/>
          <p:nvPr>
            <p:ph idx="10" type="dt"/>
          </p:nvPr>
        </p:nvSpPr>
        <p:spPr>
          <a:xfrm>
            <a:off x="457200" y="4783454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28"/>
          <p:cNvSpPr txBox="1"/>
          <p:nvPr>
            <p:ph idx="12" type="sldNum"/>
          </p:nvPr>
        </p:nvSpPr>
        <p:spPr>
          <a:xfrm>
            <a:off x="8595863" y="4953905"/>
            <a:ext cx="40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8900" marR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89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14</a:t>
            </a:r>
            <a:endParaRPr/>
          </a:p>
        </p:txBody>
      </p:sp>
      <p:pic>
        <p:nvPicPr>
          <p:cNvPr id="117" name="Google Shape;117;p28" title="Picture1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1692" y="114962"/>
            <a:ext cx="1762106" cy="666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6850" y="85874"/>
            <a:ext cx="1781604" cy="724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311700" y="1111201"/>
            <a:ext cx="8520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9" name="Google Shape;59;p14" title="Picture1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41692" y="114962"/>
            <a:ext cx="1762106" cy="666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 title="Gap2@2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11675" y="150650"/>
            <a:ext cx="920625" cy="910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/>
          <p:nvPr>
            <p:ph type="ctrTitle"/>
          </p:nvPr>
        </p:nvSpPr>
        <p:spPr>
          <a:xfrm>
            <a:off x="344325" y="1100425"/>
            <a:ext cx="85206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2500"/>
              <a:t>Project Spectre: Behavioral Host Intrusion Detection System</a:t>
            </a:r>
            <a:endParaRPr sz="2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2500"/>
              <a:t>GTU SBTP - 2026 (Subject Code: DI05000011)</a:t>
            </a:r>
            <a:endParaRPr sz="2500"/>
          </a:p>
        </p:txBody>
      </p:sp>
      <p:sp>
        <p:nvSpPr>
          <p:cNvPr id="124" name="Google Shape;124;p29"/>
          <p:cNvSpPr txBox="1"/>
          <p:nvPr>
            <p:ph idx="1" type="subTitle"/>
          </p:nvPr>
        </p:nvSpPr>
        <p:spPr>
          <a:xfrm>
            <a:off x="256000" y="2456225"/>
            <a:ext cx="8520600" cy="23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/>
              <a:t>Student Name: Aayush Bankar</a:t>
            </a:r>
            <a:endParaRPr/>
          </a:p>
          <a:p>
            <a: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/>
              <a:t>Enrollment no.: 246230316006</a:t>
            </a:r>
            <a:endParaRPr/>
          </a:p>
          <a:p>
            <a: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/>
              <a:t>College Name: Government Polytechnic Gandhinagar</a:t>
            </a:r>
            <a:endParaRPr/>
          </a:p>
          <a:p>
            <a: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/>
              <a:t>Branch and Year: Information Technology, 2026</a:t>
            </a:r>
            <a:endParaRPr/>
          </a:p>
          <a:p>
            <a: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/>
              <a:t>Branch code: 16</a:t>
            </a:r>
            <a:endParaRPr/>
          </a:p>
          <a:p>
            <a: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/>
              <a:t>Gender: Male</a:t>
            </a:r>
            <a:endParaRPr/>
          </a:p>
          <a:p>
            <a: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/>
              <a:t>Registered Mail ID: aayushbankar42@gmail.com</a:t>
            </a:r>
            <a:endParaRPr/>
          </a:p>
          <a:p>
            <a: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/>
              <a:t>Contact No.: +91 6351400725</a:t>
            </a:r>
            <a:endParaRPr/>
          </a:p>
        </p:txBody>
      </p:sp>
      <p:pic>
        <p:nvPicPr>
          <p:cNvPr id="125" name="Google Shape;125;p29" title="BharatCares_Original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12" y="150656"/>
            <a:ext cx="1585431" cy="616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9" title="Gap2@2x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9475" y="4000"/>
            <a:ext cx="920625" cy="91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0"/>
          <p:cNvSpPr txBox="1"/>
          <p:nvPr/>
        </p:nvSpPr>
        <p:spPr>
          <a:xfrm>
            <a:off x="502214" y="1195533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did you learned in this </a:t>
            </a:r>
            <a:r>
              <a:rPr b="1" lang="en-US" sz="2500"/>
              <a:t>project </a:t>
            </a: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0"/>
          <p:cNvSpPr txBox="1"/>
          <p:nvPr/>
        </p:nvSpPr>
        <p:spPr>
          <a:xfrm>
            <a:off x="1061125" y="1918500"/>
            <a:ext cx="73152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Systems Architecture &amp; Security: Designed and implemented a low-level, behavioral Host Intrusion Detection System (HIDS).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Advanced Threat Modeling: Shifted the security paradigm from static file analysis to dynamic execution pattern modeling.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Agile Engineering (SDLC): Executed a 10+ stage incremental Software Development Life Cycle to continuously ship functional versions.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Modern Tech Stack Integration: Gained hands-on experience integrating system telemetry (psutil), graph algorithms (NetworkX), malware engines (YARA), and full-stack APIs (FastAPI, Next.js).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1"/>
          <p:cNvSpPr txBox="1"/>
          <p:nvPr/>
        </p:nvSpPr>
        <p:spPr>
          <a:xfrm>
            <a:off x="576950" y="1121024"/>
            <a:ext cx="7990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Project Purpose (Why do you made this project?)</a:t>
            </a:r>
            <a:endParaRPr b="0" i="0" sz="2500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8" name="Google Shape;138;p31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Problem: Traditional antivirus relies heavily on static signatures ('Is this file known?'), leaving systems vulnerable to zero-day threats and 'living off the land' techniques.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Solution (Spectre): Built to analyze the grammar of a computer system, asking: 'Does this sequence of actions make sense on this machine?'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Vision: To engineer a lightweight, local-first detection system that prioritizes execution relationships to spot anomalies, while remaining fully explainable and resource-efficient.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/>
          <p:nvPr/>
        </p:nvSpPr>
        <p:spPr>
          <a:xfrm>
            <a:off x="502225" y="986300"/>
            <a:ext cx="74862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Project Objectives (What do you made in this project)</a:t>
            </a:r>
            <a:endParaRPr b="0" i="0" sz="2500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4" name="Google Shape;144;p32"/>
          <p:cNvSpPr txBox="1"/>
          <p:nvPr/>
        </p:nvSpPr>
        <p:spPr>
          <a:xfrm>
            <a:off x="743225" y="1869550"/>
            <a:ext cx="7315200" cy="28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Behavioral Monitoring: Track process ancestry, file I/O operations, and network socket connections in real-time.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Intelligent Detection Engine: Implement weighted threat scoring, JSON-configurable rules, and dynamic anomaly thresholds.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Active Containment: Engineer mitigation modules to instantly quarantine, freeze (SIGSTOP), or terminate (SIGKILL) malicious process trees.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Contextual Enrichment: Integrate MITRE ATT&amp;CK framework mapping and YARA signature scanning to provide deep threat context.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3"/>
          <p:cNvSpPr txBox="1"/>
          <p:nvPr/>
        </p:nvSpPr>
        <p:spPr>
          <a:xfrm>
            <a:off x="502214" y="1003741"/>
            <a:ext cx="80154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Structure of Your project (What are the steps you follows?)</a:t>
            </a:r>
            <a:endParaRPr b="0" i="0" sz="2500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0" name="Google Shape;150;p33"/>
          <p:cNvSpPr txBox="1"/>
          <p:nvPr/>
        </p:nvSpPr>
        <p:spPr>
          <a:xfrm>
            <a:off x="578750" y="1791550"/>
            <a:ext cx="8102400" cy="3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Telemetry Sensing: Extract real-time OS-level data on processes and resources.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Graph Construction: Normalize events into a rolling-memory, sliding-window process-resource graph.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Behavioral Evaluation: Run the detection engine to evaluate active execution chains against configured threat rules.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Alerting &amp; Mitigation: Generate human-readable alerts, map to MITRE ATT&amp;CK, and trigger active containment.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 Visualization: Expose telemetry via a FastAPI REST API and visualize live threats on a Next.js web dashboard.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 txBox="1"/>
          <p:nvPr/>
        </p:nvSpPr>
        <p:spPr>
          <a:xfrm>
            <a:off x="502214" y="1056048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 Link for Project</a:t>
            </a:r>
            <a:endParaRPr b="0" i="0" sz="25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6" name="Google Shape;156;p34"/>
          <p:cNvSpPr txBox="1"/>
          <p:nvPr/>
        </p:nvSpPr>
        <p:spPr>
          <a:xfrm>
            <a:off x="656625" y="2485750"/>
            <a:ext cx="711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https://github.com/Aayushbankar/spectre.git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5"/>
          <p:cNvSpPr txBox="1"/>
          <p:nvPr/>
        </p:nvSpPr>
        <p:spPr>
          <a:xfrm>
            <a:off x="200689" y="878103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Advantages and Limitations of Your Project</a:t>
            </a:r>
            <a:endParaRPr b="0" i="0" sz="25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62" name="Google Shape;162;p35"/>
          <p:cNvGraphicFramePr/>
          <p:nvPr/>
        </p:nvGraphicFramePr>
        <p:xfrm>
          <a:off x="293475" y="1438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{E2E437EA-23C0-4E91-B591-5456C4132C26}</a:tableStyleId>
              </a:tblPr>
              <a:tblGrid>
                <a:gridCol w="3585550"/>
                <a:gridCol w="3585550"/>
              </a:tblGrid>
              <a:tr h="60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ADVANTAGES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LIMITATIONS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143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• Zero-Day Resilience: Detects novel attacks by analyzing behavior rather than relying on known signatures.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Polling Constraints: Application-level polling can occasionally miss micro-lived processes.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6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• Local-First &amp; Explainable: Operates entirely offline with strict data privacy.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Processing Overhead: High-activity environments require careful threshold tuning to prevent bottlenecks.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60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• Ultra-Lightweight: Engineered for minimal footprint (Targeting CPU &lt;5% and RAM &lt;200MB).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6"/>
          <p:cNvSpPr txBox="1"/>
          <p:nvPr/>
        </p:nvSpPr>
        <p:spPr>
          <a:xfrm>
            <a:off x="564289" y="1090903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Challenges you faced (What difficulties you face?)</a:t>
            </a:r>
            <a:endParaRPr b="0" i="0" sz="25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8" name="Google Shape;168;p36"/>
          <p:cNvSpPr txBox="1"/>
          <p:nvPr/>
        </p:nvSpPr>
        <p:spPr>
          <a:xfrm>
            <a:off x="620925" y="1680000"/>
            <a:ext cx="7315200" cy="28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State Management: Safely handling short-lived processes and PID recycling during ancestry tree construction to prevent tracking errors.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Memory Optimization: Implementing an efficient sliding-window graph algorithm to automatically prune stale events and prevent memory leaks.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False Positive Tuning: Accurately mapping complex behaviors to MITRE ATT&amp;CK techniques without flagging legitimate administrative workflows.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Safe Mitigation: Designing a containment module capable of neutralizing threat trees without accidentally disrupting critical OS services.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7"/>
          <p:cNvSpPr txBox="1"/>
          <p:nvPr/>
        </p:nvSpPr>
        <p:spPr>
          <a:xfrm>
            <a:off x="564289" y="1247828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7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Project Spectre proves that a behavior-first, relationship-driven approach to endpoint security is both highly viable and highly effective.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Moving away from static characteristics allows for deep, contextual visibility into execution sequences.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system establishes a robust, explainable, and machine-learning-ready foundation for next-generation Endpoint Detection and Response (EDR) platforms.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8"/>
          <p:cNvSpPr txBox="1"/>
          <p:nvPr/>
        </p:nvSpPr>
        <p:spPr>
          <a:xfrm>
            <a:off x="3597150" y="2388750"/>
            <a:ext cx="19497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7150">
            <a:noAutofit/>
          </a:bodyPr>
          <a:lstStyle/>
          <a:p>
            <a:pPr indent="0" lvl="0" marL="25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 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
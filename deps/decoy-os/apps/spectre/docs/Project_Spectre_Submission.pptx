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5"/>
    <p:sldMasterId id="214748367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IBM Plex Sans"/>
      <p:regular r:id="rId18"/>
      <p:bold r:id="rId19"/>
      <p:italic r:id="rId20"/>
      <p:boldItalic r:id="rId21"/>
    </p:embeddedFont>
    <p:embeddedFont>
      <p:font typeface="Tahoma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64D8D9-5504-40AA-91A8-E343FF96F987}">
  <a:tblStyle styleId="{4564D8D9-5504-40AA-91A8-E343FF96F9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font" Target="fonts/IBMPlexSans-regular.fntdata"/><Relationship Id="rId19" Type="http://schemas.openxmlformats.org/officeDocument/2006/relationships/font" Target="fonts/IBMPlexSans-bold.fntdata"/><Relationship Id="rId20" Type="http://schemas.openxmlformats.org/officeDocument/2006/relationships/font" Target="fonts/IBMPlexSans-italic.fntdata"/><Relationship Id="rId21" Type="http://schemas.openxmlformats.org/officeDocument/2006/relationships/font" Target="fonts/IBMPlexSans-boldItalic.fntdata"/><Relationship Id="rId22" Type="http://schemas.openxmlformats.org/officeDocument/2006/relationships/font" Target="fonts/Tahoma-regular.fntdata"/><Relationship Id="rId23" Type="http://schemas.openxmlformats.org/officeDocument/2006/relationships/font" Target="fonts/Tahoma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d0462cdbc_1_208:notes"/>
          <p:cNvSpPr txBox="1"/>
          <p:nvPr>
            <p:ph idx="1" type="body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ed0462cdbc_1_208:notes"/>
          <p:cNvSpPr/>
          <p:nvPr>
            <p:ph idx="2" type="sldImg"/>
          </p:nvPr>
        </p:nvSpPr>
        <p:spPr>
          <a:xfrm>
            <a:off x="2270579" y="1142999"/>
            <a:ext cx="23169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d0462cdbc_1_212:notes"/>
          <p:cNvSpPr txBox="1"/>
          <p:nvPr>
            <p:ph idx="1" type="body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ed0462cdbc_1_212:notes"/>
          <p:cNvSpPr/>
          <p:nvPr>
            <p:ph idx="2" type="sldImg"/>
          </p:nvPr>
        </p:nvSpPr>
        <p:spPr>
          <a:xfrm>
            <a:off x="2270579" y="1142999"/>
            <a:ext cx="23169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d0462cdbc_1_217:notes"/>
          <p:cNvSpPr txBox="1"/>
          <p:nvPr>
            <p:ph idx="1" type="body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ed0462cdbc_1_217:notes"/>
          <p:cNvSpPr/>
          <p:nvPr>
            <p:ph idx="2" type="sldImg"/>
          </p:nvPr>
        </p:nvSpPr>
        <p:spPr>
          <a:xfrm>
            <a:off x="2270579" y="1142999"/>
            <a:ext cx="23169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d0462cdbc_1_221:notes"/>
          <p:cNvSpPr txBox="1"/>
          <p:nvPr>
            <p:ph idx="1" type="body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ed0462cdbc_1_221:notes"/>
          <p:cNvSpPr/>
          <p:nvPr>
            <p:ph idx="2" type="sldImg"/>
          </p:nvPr>
        </p:nvSpPr>
        <p:spPr>
          <a:xfrm>
            <a:off x="2270579" y="1142999"/>
            <a:ext cx="23169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d0462cdbc_1_225:notes"/>
          <p:cNvSpPr txBox="1"/>
          <p:nvPr>
            <p:ph idx="1" type="body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ed0462cdbc_1_225:notes"/>
          <p:cNvSpPr/>
          <p:nvPr>
            <p:ph idx="2" type="sldImg"/>
          </p:nvPr>
        </p:nvSpPr>
        <p:spPr>
          <a:xfrm>
            <a:off x="2270579" y="1142999"/>
            <a:ext cx="23169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d0462cdbc_1_229:notes"/>
          <p:cNvSpPr txBox="1"/>
          <p:nvPr>
            <p:ph idx="1" type="body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ed0462cdbc_1_229:notes"/>
          <p:cNvSpPr/>
          <p:nvPr>
            <p:ph idx="2" type="sldImg"/>
          </p:nvPr>
        </p:nvSpPr>
        <p:spPr>
          <a:xfrm>
            <a:off x="2270579" y="1142999"/>
            <a:ext cx="23169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d0462cdbc_1_233:notes"/>
          <p:cNvSpPr txBox="1"/>
          <p:nvPr>
            <p:ph idx="1" type="body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ed0462cdbc_1_233:notes"/>
          <p:cNvSpPr/>
          <p:nvPr>
            <p:ph idx="2" type="sldImg"/>
          </p:nvPr>
        </p:nvSpPr>
        <p:spPr>
          <a:xfrm>
            <a:off x="2270579" y="1142999"/>
            <a:ext cx="23169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d0462cdbc_1_237:notes"/>
          <p:cNvSpPr txBox="1"/>
          <p:nvPr>
            <p:ph idx="1" type="body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ed0462cdbc_1_237:notes"/>
          <p:cNvSpPr/>
          <p:nvPr>
            <p:ph idx="2" type="sldImg"/>
          </p:nvPr>
        </p:nvSpPr>
        <p:spPr>
          <a:xfrm>
            <a:off x="2270579" y="1142999"/>
            <a:ext cx="23169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d0462cdbc_1_241:notes"/>
          <p:cNvSpPr txBox="1"/>
          <p:nvPr>
            <p:ph idx="1" type="body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ed0462cdbc_1_241:notes"/>
          <p:cNvSpPr/>
          <p:nvPr>
            <p:ph idx="2" type="sldImg"/>
          </p:nvPr>
        </p:nvSpPr>
        <p:spPr>
          <a:xfrm>
            <a:off x="2270579" y="1142999"/>
            <a:ext cx="23169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22719" y="114965"/>
            <a:ext cx="5611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880861" y="1279047"/>
            <a:ext cx="3799500" cy="11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108960" y="4783454"/>
            <a:ext cx="29259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457200" y="4783454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595863" y="4953905"/>
            <a:ext cx="4035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89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 / 14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ctrTitle"/>
          </p:nvPr>
        </p:nvSpPr>
        <p:spPr>
          <a:xfrm>
            <a:off x="311708" y="744575"/>
            <a:ext cx="8520600" cy="2052300"/>
          </a:xfrm>
          <a:prstGeom prst="rect">
            <a:avLst/>
          </a:prstGeom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975" lIns="144975" spcFirstLastPara="1" rIns="144975" wrap="square" tIns="1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311700" y="1111201"/>
            <a:ext cx="8520600" cy="572400"/>
          </a:xfrm>
          <a:prstGeom prst="rect">
            <a:avLst/>
          </a:prstGeom>
        </p:spPr>
        <p:txBody>
          <a:bodyPr anchorCtr="0" anchor="t" bIns="91400" lIns="91400" spcFirstLastPara="1" rIns="91400" wrap="square" tIns="91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975" lIns="144975" spcFirstLastPara="1" rIns="144975" wrap="square" tIns="144975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311700" y="1111201"/>
            <a:ext cx="8520600" cy="572400"/>
          </a:xfrm>
          <a:prstGeom prst="rect">
            <a:avLst/>
          </a:prstGeom>
        </p:spPr>
        <p:txBody>
          <a:bodyPr anchorCtr="0" anchor="t" bIns="91400" lIns="91400" spcFirstLastPara="1" rIns="91400" wrap="square" tIns="91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975" lIns="144975" spcFirstLastPara="1" rIns="144975" wrap="square" tIns="14497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75" name="Google Shape;75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975" lIns="144975" spcFirstLastPara="1" rIns="144975" wrap="square" tIns="14497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76" name="Google Shape;7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>
            <p:ph type="title"/>
          </p:nvPr>
        </p:nvSpPr>
        <p:spPr>
          <a:xfrm>
            <a:off x="311700" y="1111201"/>
            <a:ext cx="8520600" cy="572400"/>
          </a:xfrm>
          <a:prstGeom prst="rect">
            <a:avLst/>
          </a:prstGeom>
        </p:spPr>
        <p:txBody>
          <a:bodyPr anchorCtr="0" anchor="t" bIns="91400" lIns="91400" spcFirstLastPara="1" rIns="91400" wrap="square" tIns="91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00" lIns="91400" spcFirstLastPara="1" rIns="91400" wrap="square" tIns="91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975" lIns="144975" spcFirstLastPara="1" rIns="144975" wrap="square" tIns="14497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 txBox="1"/>
          <p:nvPr>
            <p:ph type="title"/>
          </p:nvPr>
        </p:nvSpPr>
        <p:spPr>
          <a:xfrm>
            <a:off x="490250" y="450150"/>
            <a:ext cx="6367800" cy="40905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6" name="Google Shape;8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/>
          <p:nvPr/>
        </p:nvSpPr>
        <p:spPr>
          <a:xfrm>
            <a:off x="4572000" y="-125"/>
            <a:ext cx="45723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2"/>
          <p:cNvSpPr txBox="1"/>
          <p:nvPr>
            <p:ph type="title"/>
          </p:nvPr>
        </p:nvSpPr>
        <p:spPr>
          <a:xfrm>
            <a:off x="265500" y="1233175"/>
            <a:ext cx="4044900" cy="1482300"/>
          </a:xfrm>
          <a:prstGeom prst="rect">
            <a:avLst/>
          </a:prstGeom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/>
        </p:txBody>
      </p:sp>
      <p:sp>
        <p:nvSpPr>
          <p:cNvPr id="90" name="Google Shape;90;p22"/>
          <p:cNvSpPr txBox="1"/>
          <p:nvPr>
            <p:ph idx="1" type="subTitle"/>
          </p:nvPr>
        </p:nvSpPr>
        <p:spPr>
          <a:xfrm>
            <a:off x="265500" y="2803075"/>
            <a:ext cx="40449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975" lIns="144975" spcFirstLastPara="1" rIns="144975" wrap="square" tIns="1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1" name="Google Shape;91;p22"/>
          <p:cNvSpPr txBox="1"/>
          <p:nvPr>
            <p:ph idx="2" type="body"/>
          </p:nvPr>
        </p:nvSpPr>
        <p:spPr>
          <a:xfrm>
            <a:off x="4939500" y="724075"/>
            <a:ext cx="3837000" cy="3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975" lIns="144975" spcFirstLastPara="1" rIns="144975" wrap="square" tIns="144975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92" name="Google Shape;9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/>
          <p:nvPr>
            <p:ph idx="1" type="body"/>
          </p:nvPr>
        </p:nvSpPr>
        <p:spPr>
          <a:xfrm>
            <a:off x="311700" y="4230575"/>
            <a:ext cx="59991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975" lIns="144975" spcFirstLastPara="1" rIns="144975" wrap="square" tIns="14497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</a:lstStyle>
          <a:p/>
        </p:txBody>
      </p:sp>
      <p:sp>
        <p:nvSpPr>
          <p:cNvPr id="95" name="Google Shape;9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9pPr>
          </a:lstStyle>
          <a:p>
            <a:r>
              <a:t>xx%</a:t>
            </a:r>
          </a:p>
        </p:txBody>
      </p:sp>
      <p:sp>
        <p:nvSpPr>
          <p:cNvPr id="98" name="Google Shape;98;p24"/>
          <p:cNvSpPr txBox="1"/>
          <p:nvPr>
            <p:ph idx="1" type="body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975" lIns="144975" spcFirstLastPara="1" rIns="144975" wrap="square" tIns="144975">
            <a:no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99" name="Google Shape;9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6"/>
          <p:cNvSpPr txBox="1"/>
          <p:nvPr>
            <p:ph type="title"/>
          </p:nvPr>
        </p:nvSpPr>
        <p:spPr>
          <a:xfrm>
            <a:off x="122719" y="114965"/>
            <a:ext cx="5611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900"/>
              <a:buNone/>
              <a:defRPr b="1" i="0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04" name="Google Shape;104;p26"/>
          <p:cNvSpPr txBox="1"/>
          <p:nvPr>
            <p:ph idx="1" type="body"/>
          </p:nvPr>
        </p:nvSpPr>
        <p:spPr>
          <a:xfrm>
            <a:off x="4880861" y="1279047"/>
            <a:ext cx="3799500" cy="11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05" name="Google Shape;105;p26"/>
          <p:cNvSpPr txBox="1"/>
          <p:nvPr>
            <p:ph idx="11" type="ftr"/>
          </p:nvPr>
        </p:nvSpPr>
        <p:spPr>
          <a:xfrm>
            <a:off x="3108960" y="4783454"/>
            <a:ext cx="29259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06" name="Google Shape;106;p26"/>
          <p:cNvSpPr txBox="1"/>
          <p:nvPr>
            <p:ph idx="10" type="dt"/>
          </p:nvPr>
        </p:nvSpPr>
        <p:spPr>
          <a:xfrm>
            <a:off x="457200" y="4783454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07" name="Google Shape;107;p26"/>
          <p:cNvSpPr txBox="1"/>
          <p:nvPr>
            <p:ph idx="12" type="sldNum"/>
          </p:nvPr>
        </p:nvSpPr>
        <p:spPr>
          <a:xfrm>
            <a:off x="8595863" y="4953905"/>
            <a:ext cx="4035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89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 / 14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 txBox="1"/>
          <p:nvPr>
            <p:ph idx="11" type="ftr"/>
          </p:nvPr>
        </p:nvSpPr>
        <p:spPr>
          <a:xfrm>
            <a:off x="3108960" y="4783454"/>
            <a:ext cx="29259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10" name="Google Shape;110;p27"/>
          <p:cNvSpPr txBox="1"/>
          <p:nvPr>
            <p:ph idx="10" type="dt"/>
          </p:nvPr>
        </p:nvSpPr>
        <p:spPr>
          <a:xfrm>
            <a:off x="457200" y="4783454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11" name="Google Shape;111;p27"/>
          <p:cNvSpPr txBox="1"/>
          <p:nvPr>
            <p:ph idx="12" type="sldNum"/>
          </p:nvPr>
        </p:nvSpPr>
        <p:spPr>
          <a:xfrm>
            <a:off x="8595863" y="4953905"/>
            <a:ext cx="4035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89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 / 14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8"/>
          <p:cNvSpPr txBox="1"/>
          <p:nvPr>
            <p:ph type="title"/>
          </p:nvPr>
        </p:nvSpPr>
        <p:spPr>
          <a:xfrm>
            <a:off x="122719" y="114965"/>
            <a:ext cx="5611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900"/>
              <a:buNone/>
              <a:defRPr b="1" i="0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14" name="Google Shape;114;p28"/>
          <p:cNvSpPr txBox="1"/>
          <p:nvPr>
            <p:ph idx="11" type="ftr"/>
          </p:nvPr>
        </p:nvSpPr>
        <p:spPr>
          <a:xfrm>
            <a:off x="3108960" y="4783454"/>
            <a:ext cx="29259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15" name="Google Shape;115;p28"/>
          <p:cNvSpPr txBox="1"/>
          <p:nvPr>
            <p:ph idx="10" type="dt"/>
          </p:nvPr>
        </p:nvSpPr>
        <p:spPr>
          <a:xfrm>
            <a:off x="457200" y="4783454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16" name="Google Shape;116;p28"/>
          <p:cNvSpPr txBox="1"/>
          <p:nvPr>
            <p:ph idx="12" type="sldNum"/>
          </p:nvPr>
        </p:nvSpPr>
        <p:spPr>
          <a:xfrm>
            <a:off x="8595863" y="4953905"/>
            <a:ext cx="4035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89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 / 14</a:t>
            </a:r>
            <a:endParaRPr/>
          </a:p>
        </p:txBody>
      </p:sp>
      <p:pic>
        <p:nvPicPr>
          <p:cNvPr id="117" name="Google Shape;117;p28" title="Picture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1692" y="114962"/>
            <a:ext cx="1762106" cy="666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6850" y="85874"/>
            <a:ext cx="1781604" cy="724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26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311700" y="1111201"/>
            <a:ext cx="8520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9" name="Google Shape;59;p14" title="Picture1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1692" y="114962"/>
            <a:ext cx="1762106" cy="666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 title="Gap2@2x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11675" y="150650"/>
            <a:ext cx="920625" cy="910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ayushk-arch/Ayush-kumar-125.git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 txBox="1"/>
          <p:nvPr>
            <p:ph type="ctrTitle"/>
          </p:nvPr>
        </p:nvSpPr>
        <p:spPr>
          <a:xfrm>
            <a:off x="311708" y="6007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r>
              <a:t>Project Spectre: Behavioral Host Intrusion Detection System</a:t>
            </a:r>
          </a:p>
          <a:p>
            <a:r>
              <a:t>GTU SBTP - 2026 (Subject Code: DI05000011)</a:t>
            </a:r>
          </a:p>
        </p:txBody>
      </p:sp>
      <p:sp>
        <p:nvSpPr>
          <p:cNvPr id="124" name="Google Shape;124;p29"/>
          <p:cNvSpPr txBox="1"/>
          <p:nvPr>
            <p:ph idx="1" type="subTitle"/>
          </p:nvPr>
        </p:nvSpPr>
        <p:spPr>
          <a:xfrm>
            <a:off x="965175" y="2782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1600"/>
            </a:pPr>
            <a:r>
              <a:t>Student Name: Aayush Bankar</a:t>
            </a:r>
          </a:p>
          <a:p>
            <a:pPr>
              <a:defRPr sz="1600"/>
            </a:pPr>
            <a:r>
              <a:t>Enrollment no.: 246230316006</a:t>
            </a:r>
          </a:p>
          <a:p>
            <a:pPr>
              <a:defRPr sz="1600"/>
            </a:pPr>
            <a:r>
              <a:t>College Name: Government Polytechnic Gandhinagar</a:t>
            </a:r>
          </a:p>
          <a:p>
            <a:pPr>
              <a:defRPr sz="1600"/>
            </a:pPr>
            <a:r>
              <a:t>Branch and Year: Information Technology, 2026</a:t>
            </a:r>
          </a:p>
          <a:p>
            <a:pPr>
              <a:defRPr sz="1600"/>
            </a:pPr>
            <a:r>
              <a:t>Branch code: 16</a:t>
            </a:r>
          </a:p>
          <a:p>
            <a:pPr>
              <a:defRPr sz="1600"/>
            </a:pPr>
            <a:r>
              <a:t>Gender: Male</a:t>
            </a:r>
          </a:p>
          <a:p>
            <a:pPr>
              <a:defRPr sz="1600"/>
            </a:pPr>
            <a:r>
              <a:t>Registered Mail ID: aayushbankar42@gmail.com</a:t>
            </a:r>
          </a:p>
          <a:p>
            <a:pPr>
              <a:defRPr sz="1600"/>
            </a:pPr>
            <a:r>
              <a:t>Contact No.: +91 6351400725</a:t>
            </a:r>
          </a:p>
        </p:txBody>
      </p:sp>
      <p:pic>
        <p:nvPicPr>
          <p:cNvPr id="125" name="Google Shape;125;p29" title="BharatCares_Original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12" y="150656"/>
            <a:ext cx="1585431" cy="616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9" title="Gap2@2x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1675" y="150650"/>
            <a:ext cx="920625" cy="91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0"/>
          <p:cNvSpPr txBox="1"/>
          <p:nvPr/>
        </p:nvSpPr>
        <p:spPr>
          <a:xfrm>
            <a:off x="502214" y="1195533"/>
            <a:ext cx="80154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1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What did you learned in this Program?</a:t>
            </a:r>
            <a:endParaRPr b="1" sz="2500"/>
          </a:p>
        </p:txBody>
      </p:sp>
      <p:sp>
        <p:nvSpPr>
          <p:cNvPr id="132" name="TextBox 131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Systems Architecture &amp; Security: Designed and implemented a low-level, behavioral Host Intrusion Detection System (HIDS).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Advanced Threat Modeling: Shifted the security paradigm from static file analysis to dynamic execution pattern modeling.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Agile Engineering (SDLC): Executed a 10+ stage incremental Software Development Life Cycle to continuously ship functional versions.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Modern Tech Stack Integration: Gained hands-on experience integrating system telemetry (psutil), graph algorithms (NetworkX), malware engines (YARA), and full-stack APIs (FastAPI, Next.js).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 txBox="1"/>
          <p:nvPr/>
        </p:nvSpPr>
        <p:spPr>
          <a:xfrm>
            <a:off x="576950" y="1121024"/>
            <a:ext cx="7990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IBM Plex Sans"/>
                <a:ea typeface="IBM Plex Sans"/>
                <a:cs typeface="IBM Plex Sans"/>
                <a:sym typeface="IBM Plex Sans"/>
              </a:rPr>
              <a:t> Project Purpose (Why do you made this project?)</a:t>
            </a:r>
            <a:endParaRPr sz="2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The Problem: Traditional antivirus relies heavily on static signatures ('Is this file known?'), leaving systems vulnerable to zero-day threats and 'living off the land' techniques.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The Solution (Spectre): Built to analyze the grammar of a computer system, asking: 'Does this sequence of actions make sense on this machine?'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The Vision: To engineer a lightweight, local-first detection system that prioritizes execution relationships to spot anomalies, while remaining fully explainable and resource-efficient.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2"/>
          <p:cNvSpPr txBox="1"/>
          <p:nvPr/>
        </p:nvSpPr>
        <p:spPr>
          <a:xfrm>
            <a:off x="502216" y="986306"/>
            <a:ext cx="82431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1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IBM Plex Sans"/>
                <a:ea typeface="IBM Plex Sans"/>
                <a:cs typeface="IBM Plex Sans"/>
                <a:sym typeface="IBM Plex Sans"/>
              </a:rPr>
              <a:t>Project Objectives (What do you made in this project)</a:t>
            </a:r>
            <a:endParaRPr sz="2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Behavioral Monitoring: Track process ancestry, file I/O operations, and network socket connections in real-time.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Intelligent Detection Engine: Implement weighted threat scoring, JSON-configurable rules, and dynamic anomaly thresholds.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Active Containment: Engineer mitigation modules to instantly quarantine, freeze (SIGSTOP), or terminate (SIGKILL) malicious process trees.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Contextual Enrichment: Integrate MITRE ATT&amp;CK framework mapping and YARA signature scanning to provide deep threat context.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3"/>
          <p:cNvSpPr txBox="1"/>
          <p:nvPr/>
        </p:nvSpPr>
        <p:spPr>
          <a:xfrm>
            <a:off x="502214" y="1003741"/>
            <a:ext cx="80154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1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IBM Plex Sans"/>
                <a:ea typeface="IBM Plex Sans"/>
                <a:cs typeface="IBM Plex Sans"/>
                <a:sym typeface="IBM Plex Sans"/>
              </a:rPr>
              <a:t>Structure of Your project (What are the steps you follows?)</a:t>
            </a:r>
            <a:endParaRPr sz="2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1. Telemetry Sensing: Extract real-time OS-level data on processes and resources.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2. Graph Construction: Normalize events into a rolling-memory, sliding-window process-resource graph.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3. Behavioral Evaluation: Run the detection engine to evaluate active execution chains against configured threat rules.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4. Alerting &amp; Mitigation: Generate human-readable alerts, map to MITRE ATT&amp;CK, and trigger active containment.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5. Visualization: Expose telemetry via a FastAPI REST API and visualize live threats on a Next.js web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4"/>
          <p:cNvSpPr txBox="1"/>
          <p:nvPr/>
        </p:nvSpPr>
        <p:spPr>
          <a:xfrm>
            <a:off x="502214" y="1056048"/>
            <a:ext cx="80154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1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Git Hub</a:t>
            </a:r>
            <a:r>
              <a:rPr b="1" lang="en" sz="2500"/>
              <a:t> Link for Project</a:t>
            </a:r>
            <a:endParaRPr sz="25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2" name="Google Shape;152;p34"/>
          <p:cNvSpPr txBox="1"/>
          <p:nvPr/>
        </p:nvSpPr>
        <p:spPr>
          <a:xfrm>
            <a:off x="656625" y="2485750"/>
            <a:ext cx="711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algn="ctr">
              <a:defRPr sz="2400"/>
            </a:pPr>
            <a:r>
              <a:t>https://github.com/Aayushbankar/spectre.git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5"/>
          <p:cNvSpPr txBox="1"/>
          <p:nvPr/>
        </p:nvSpPr>
        <p:spPr>
          <a:xfrm>
            <a:off x="564289" y="1143228"/>
            <a:ext cx="80154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1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Advantages and Limitations of Your Project</a:t>
            </a:r>
            <a:endParaRPr sz="2500"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158" name="Google Shape;158;p35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{4564D8D9-5504-40AA-91A8-E343FF96F987}</a:tableStyleId>
              </a:tblPr>
              <a:tblGrid>
                <a:gridCol w="3619500"/>
                <a:gridCol w="3619500"/>
              </a:tblGrid>
              <a:tr h="70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ADVANTAGES 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LIMITATIONS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  <a:tr h="70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70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70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9" name="TextBox 158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latin typeface="Calibri"/>
              </a:defRPr>
            </a:pPr>
            <a:r>
              <a:t>ADVANTAGES:</a:t>
            </a:r>
          </a:p>
          <a:p>
            <a:pPr>
              <a:spcAft>
                <a:spcPts val="1400"/>
              </a:spcAft>
              <a:defRPr sz="1600">
                <a:latin typeface="Calibri"/>
              </a:defRPr>
            </a:pPr>
            <a:r>
              <a:t>• Zero-Day Resilience: Detects novel attacks by analyzing behavior rather than relying on known signatures.</a:t>
            </a:r>
          </a:p>
          <a:p>
            <a:pPr>
              <a:spcAft>
                <a:spcPts val="1400"/>
              </a:spcAft>
              <a:defRPr sz="1600">
                <a:latin typeface="Calibri"/>
              </a:defRPr>
            </a:pPr>
            <a:r>
              <a:t>• Local-First &amp; Explainable: Operates entirely offline with strict data privacy.</a:t>
            </a:r>
          </a:p>
          <a:p>
            <a:pPr>
              <a:spcAft>
                <a:spcPts val="1400"/>
              </a:spcAft>
              <a:defRPr sz="1600">
                <a:latin typeface="Calibri"/>
              </a:defRPr>
            </a:pPr>
            <a:r>
              <a:t>• Ultra-Lightweight: Engineered for minimal footprint (Targeting CPU &lt;5% and RAM &lt;200MB).</a:t>
            </a:r>
          </a:p>
          <a:p>
            <a:pPr>
              <a:spcAft>
                <a:spcPts val="1400"/>
              </a:spcAft>
              <a:defRPr sz="1600">
                <a:latin typeface="Calibri"/>
              </a:defRPr>
            </a:pPr>
          </a:p>
          <a:p>
            <a:pPr>
              <a:spcAft>
                <a:spcPts val="1400"/>
              </a:spcAft>
              <a:defRPr sz="1600">
                <a:latin typeface="Calibri"/>
              </a:defRPr>
            </a:pPr>
            <a:r>
              <a:t>LIMITATIONS:</a:t>
            </a:r>
          </a:p>
          <a:p>
            <a:pPr>
              <a:spcAft>
                <a:spcPts val="1400"/>
              </a:spcAft>
              <a:defRPr sz="1600">
                <a:latin typeface="Calibri"/>
              </a:defRPr>
            </a:pPr>
            <a:r>
              <a:t>• Polling Constraints: Application-level polling can occasionally miss micro-lived processes.</a:t>
            </a:r>
          </a:p>
          <a:p>
            <a:pPr>
              <a:spcAft>
                <a:spcPts val="1400"/>
              </a:spcAft>
              <a:defRPr sz="1600">
                <a:latin typeface="Calibri"/>
              </a:defRPr>
            </a:pPr>
            <a:r>
              <a:t>• Processing Overhead: High-activity environments require careful threshold tuning to prevent bottlenecks.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6"/>
          <p:cNvSpPr txBox="1"/>
          <p:nvPr/>
        </p:nvSpPr>
        <p:spPr>
          <a:xfrm>
            <a:off x="564289" y="1090903"/>
            <a:ext cx="80154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1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Challenges you faced (What difficulties you face?)</a:t>
            </a:r>
            <a:endParaRPr sz="25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State Management: Safely handling short-lived processes and PID recycling during ancestry tree construction to prevent tracking errors.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Memory Optimization: Implementing an efficient sliding-window graph algorithm to automatically prune stale events and prevent memory leaks.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False Positive Tuning: Accurately mapping complex behaviors to MITRE ATT&amp;CK techniques without flagging legitimate administrative workflows.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Safe Mitigation: Designing a containment module capable of neutralizing threat trees without accidentally disrupting critical OS services.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7"/>
          <p:cNvSpPr txBox="1"/>
          <p:nvPr/>
        </p:nvSpPr>
        <p:spPr>
          <a:xfrm>
            <a:off x="564289" y="1247828"/>
            <a:ext cx="80154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1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Conclusion</a:t>
            </a:r>
            <a:endParaRPr b="1" sz="2500"/>
          </a:p>
        </p:txBody>
      </p:sp>
      <p:sp>
        <p:nvSpPr>
          <p:cNvPr id="169" name="TextBox 168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Project Spectre proves that a behavior-first, relationship-driven approach to endpoint security is both highly viable and highly effective.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Moving away from static characteristics allows for deep, contextual visibility into execution sequences.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The system establishes a robust, explainable, and machine-learning-ready foundation for next-generation Endpoint Detection and Response (EDR) platforms.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8"/>
          <p:cNvSpPr txBox="1"/>
          <p:nvPr/>
        </p:nvSpPr>
        <p:spPr>
          <a:xfrm>
            <a:off x="2519675" y="1446758"/>
            <a:ext cx="40392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150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Arial"/>
                <a:ea typeface="Arial"/>
                <a:cs typeface="Arial"/>
                <a:sym typeface="Arial"/>
              </a:rPr>
              <a:t>Thank You </a:t>
            </a:r>
            <a:endParaRPr b="1"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